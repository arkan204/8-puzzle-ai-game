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906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53085" y="929640"/>
            <a:ext cx="483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8-Puzzle AI Game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893527" y="1767840"/>
            <a:ext cx="33568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with Artificial Intelligence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81327" y="2245043"/>
            <a:ext cx="3269389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 Khalid Raheem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b="1" i="1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Dostan</a:t>
            </a:r>
            <a:r>
              <a:rPr lang="en-US" sz="1400" b="1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i="1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Xali</a:t>
            </a:r>
            <a:r>
              <a:rPr lang="en-US" sz="1400" b="1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Ahmed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b="1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Shahryar Sabir</a:t>
            </a:r>
          </a:p>
        </p:txBody>
      </p:sp>
      <p:sp>
        <p:nvSpPr>
          <p:cNvPr id="5" name="Text 3"/>
          <p:cNvSpPr/>
          <p:nvPr/>
        </p:nvSpPr>
        <p:spPr>
          <a:xfrm>
            <a:off x="2524580" y="3568065"/>
            <a:ext cx="4094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Course • University of Sulaimani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54542" y="2799768"/>
            <a:ext cx="2114550" cy="211455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06942" y="2952168"/>
            <a:ext cx="571500" cy="57150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326067" y="2952168"/>
            <a:ext cx="571500" cy="57150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945192" y="2952168"/>
            <a:ext cx="571500" cy="57150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06942" y="3571293"/>
            <a:ext cx="571500" cy="57150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26067" y="3571293"/>
            <a:ext cx="571500" cy="57150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45192" y="3571293"/>
            <a:ext cx="571500" cy="57150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06942" y="4190418"/>
            <a:ext cx="571500" cy="57150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6067" y="4190418"/>
            <a:ext cx="571500" cy="57150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45192" y="4190418"/>
            <a:ext cx="571500" cy="5715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Overview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8-Puzzle is a sliding tile puzzle consisting of: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164211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3×3 grid with 8 numbered tiles (1-8)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empty slot (blank space)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Tiles can slide into the empty space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Arrange tiles in numerical order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570169" y="2434008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Configuration: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47225"/>
            <a:ext cx="7924800" cy="12954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71225"/>
            <a:ext cx="7924800" cy="252222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07144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&amp; Rules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252025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724464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goal state where all tiles are arranged in ascending order from left to right, top to bottom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76025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248464"/>
            <a:ext cx="70866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tiles adjacent to empty space can move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Tiles slide into the empty space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Diagonal moves are not allowed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4 directions: Up, Down, Left, Right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Algorithm: A* Search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is an informed search algorithm that uses: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0"/>
            <a:ext cx="7620000" cy="2461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f(n) = g(n) + h(n)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where: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g(n) = Cost from start state to current state (depth)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h(n) = Heuristic estimate to goal state (Manhattan Distance)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selects node with lowest f(n) value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efficient than BFS and DFS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optimal solution if heuristic is admissible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42111"/>
            <a:ext cx="7924800" cy="85725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Heuristic: Manhattan Distance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Distance calculates the sum of absolute differences between current and goal positions: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642111"/>
            <a:ext cx="79248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h(n) = Σ |current_x - goal_x| + |current_y - goal_y|</a:t>
            </a:r>
            <a:endParaRPr lang="en-US" sz="1050" dirty="0"/>
          </a:p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each tile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272796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Manhattan Distance?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120391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Admissible (never overestimates actual cost)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computation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to faster solution finding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2041" y="693420"/>
            <a:ext cx="953929" cy="57531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ctr">
              <a:buNone/>
            </a:pPr>
            <a:r>
              <a:rPr lang="en-US" dirty="0"/>
              <a:t>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86827" y="1663065"/>
            <a:ext cx="2464356" cy="51816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Open &amp; Closed Lists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86827" y="2632710"/>
            <a:ext cx="2540080" cy="51816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Initial State to Open List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67254" y="3602355"/>
            <a:ext cx="2379226" cy="51816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Open List not empty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67611" y="4459605"/>
            <a:ext cx="2302788" cy="51816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 node with lowest f(n)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81940"/>
            <a:ext cx="50245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Flowchart (Part 1)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60712" y="1268730"/>
            <a:ext cx="1165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60712" y="2238375"/>
            <a:ext cx="1165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60712" y="3225165"/>
            <a:ext cx="1165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60712" y="4130040"/>
            <a:ext cx="1165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92484" y="297180"/>
            <a:ext cx="2108835" cy="51816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if Goal Reached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601528" y="1341122"/>
            <a:ext cx="2142173" cy="51816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Return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242691" y="1356360"/>
            <a:ext cx="1583174" cy="51816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 Continue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26416" y="2255525"/>
            <a:ext cx="2040969" cy="51816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Child States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16402" y="3177537"/>
            <a:ext cx="2455664" cy="51816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f(n) for each child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79646" y="4034797"/>
            <a:ext cx="2929176" cy="51816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Open List (if not in Closed)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5654" y="4480560"/>
            <a:ext cx="2396133" cy="51816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228600" tIns="228600" rIns="228600" bIns="228600" rtlCol="0" anchor="t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Current to Closed List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3040" y="14478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Flowchart (Part 2)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8608" y="918211"/>
            <a:ext cx="1165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598" y="1493522"/>
            <a:ext cx="4359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8608" y="1882143"/>
            <a:ext cx="1165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5941" y="2773685"/>
            <a:ext cx="1165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5941" y="3695697"/>
            <a:ext cx="1165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72601" y="4160520"/>
            <a:ext cx="5365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E3C73085-4074-EC29-4233-3C3B87D404E5}"/>
              </a:ext>
            </a:extLst>
          </p:cNvPr>
          <p:cNvCxnSpPr>
            <a:stCxn id="7" idx="1"/>
            <a:endCxn id="15" idx="0"/>
          </p:cNvCxnSpPr>
          <p:nvPr/>
        </p:nvCxnSpPr>
        <p:spPr>
          <a:xfrm rot="10800000">
            <a:off x="3840868" y="4160521"/>
            <a:ext cx="1338778" cy="133357"/>
          </a:xfrm>
          <a:prstGeom prst="bentConnector4">
            <a:avLst>
              <a:gd name="adj1" fmla="val 39981"/>
              <a:gd name="adj2" fmla="val 2714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09320"/>
            <a:ext cx="7924800" cy="1177292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82190"/>
            <a:ext cx="7924800" cy="117729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55058"/>
            <a:ext cx="7924800" cy="128524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9812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Language &amp; Technology Stack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10744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157988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Language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793242"/>
            <a:ext cx="746150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algorithm, game logic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442213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2914649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Framework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128013"/>
            <a:ext cx="746150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UI, widgets, events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868419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heapq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434086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Queue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554219"/>
            <a:ext cx="746150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Open List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Implementation Details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heapq module: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Priority Queue for Open List (min-heap)</a:t>
            </a:r>
            <a:endParaRPr lang="en-US" sz="1350" dirty="0"/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set() collection: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Visited states tracking for Closed List</a:t>
            </a:r>
            <a:endParaRPr lang="en-US" sz="1350" dirty="0"/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PuzzleNode class: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 representation with f(n), g(n), h(n)</a:t>
            </a:r>
            <a:endParaRPr lang="en-US" sz="1350" dirty="0"/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 widgets: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Buttons, labels, frames, grid layout</a:t>
            </a:r>
            <a:endParaRPr lang="en-US" sz="1350" dirty="0"/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handlers: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Tile clicks, reset, auto-solve functions</a:t>
            </a:r>
            <a:endParaRPr lang="en-US" sz="1350" dirty="0"/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animation: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root.after() for step-by-step visualization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Project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846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GUI for manual puzzle solving</a:t>
            </a:r>
            <a:endParaRPr lang="en-US" sz="13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Solver button using A* algorithm</a:t>
            </a:r>
            <a:endParaRPr lang="en-US" sz="13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puzzle generation on reset</a:t>
            </a:r>
            <a:endParaRPr lang="en-US" sz="13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of solution steps</a:t>
            </a:r>
            <a:endParaRPr lang="en-US" sz="13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counter and solution path display</a:t>
            </a:r>
            <a:endParaRPr lang="en-US" sz="13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solution guarantee</a:t>
            </a:r>
            <a:endParaRPr lang="en-US" sz="13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exploration of search space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697510" cy="99512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73407"/>
            <a:ext cx="6570226" cy="99512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97128"/>
            <a:ext cx="6514148" cy="995124"/>
          </a:xfrm>
          <a:prstGeom prst="rect">
            <a:avLst/>
          </a:prstGeom>
          <a:solidFill>
            <a:srgbClr val="10B981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vs Other Search Algorithms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82"/>
            <a:ext cx="73851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1813559"/>
            <a:ext cx="7385116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Explores all nodes level by level. Guarantees optimal solution but inefficient (explores many unnecessary nodes).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2702007"/>
            <a:ext cx="62352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8200" y="3037284"/>
            <a:ext cx="6235287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Explores deeply before backtracking. Fast but may not find optimal solution. Uses less memory.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38200" y="3925728"/>
            <a:ext cx="61780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(Our Choice)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8200" y="4261010"/>
            <a:ext cx="6178087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heuristic to guide search. Optimal solution with minimal node exploration. Best efficiency!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881" y="880109"/>
            <a:ext cx="19042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963633" y="1520191"/>
            <a:ext cx="5216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8-Puzzle AI Game demonstrates practical application of: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303108" y="1994535"/>
            <a:ext cx="5422384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search algorithms (A*)</a:t>
            </a:r>
            <a:endParaRPr lang="en-US" sz="1350" dirty="0"/>
          </a:p>
          <a:p>
            <a:pPr marL="342900" indent="-342900" algn="l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function design</a:t>
            </a:r>
            <a:endParaRPr lang="en-US" sz="1350" dirty="0"/>
          </a:p>
          <a:p>
            <a:pPr marL="342900" indent="-342900" algn="l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interactive applications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988464" y="3550923"/>
            <a:ext cx="11669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29582" y="4023359"/>
            <a:ext cx="88471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611</Words>
  <Application>Microsoft Office PowerPoint</Application>
  <PresentationFormat>On-screen Show (16:9)</PresentationFormat>
  <Paragraphs>120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Mr_Arkan</cp:lastModifiedBy>
  <cp:revision>3</cp:revision>
  <dcterms:created xsi:type="dcterms:W3CDTF">2025-12-30T10:58:05Z</dcterms:created>
  <dcterms:modified xsi:type="dcterms:W3CDTF">2025-12-30T11:23:18Z</dcterms:modified>
</cp:coreProperties>
</file>